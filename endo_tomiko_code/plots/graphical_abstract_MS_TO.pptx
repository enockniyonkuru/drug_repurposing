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68580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197"/>
  </p:normalViewPr>
  <p:slideViewPr>
    <p:cSldViewPr snapToGrid="0" snapToObjects="1">
      <p:cViewPr varScale="1">
        <p:scale>
          <a:sx n="139" d="100"/>
          <a:sy n="139" d="100"/>
        </p:scale>
        <p:origin x="2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272011"/>
            <a:ext cx="5829300" cy="270594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082310"/>
            <a:ext cx="5143500" cy="1876530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4E6FC-AF88-3E48-B4A8-C752523C2467}" type="datetimeFigureOut">
              <a:rPr lang="en-US" smtClean="0"/>
              <a:t>10/8/22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CB1A-1F52-1641-A3AC-E0BBDE869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12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4E6FC-AF88-3E48-B4A8-C752523C2467}" type="datetimeFigureOut">
              <a:rPr lang="en-US" smtClean="0"/>
              <a:t>10/8/22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CB1A-1F52-1641-A3AC-E0BBDE869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974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937705"/>
            <a:ext cx="5915025" cy="323310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5201393"/>
            <a:ext cx="5915025" cy="170021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4E6FC-AF88-3E48-B4A8-C752523C2467}" type="datetimeFigureOut">
              <a:rPr lang="en-US" smtClean="0"/>
              <a:t>10/8/22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CB1A-1F52-1641-A3AC-E0BBDE869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776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069042"/>
            <a:ext cx="291465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069042"/>
            <a:ext cx="291465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4E6FC-AF88-3E48-B4A8-C752523C2467}" type="datetimeFigureOut">
              <a:rPr lang="en-US" smtClean="0"/>
              <a:t>10/8/22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CB1A-1F52-1641-A3AC-E0BBDE869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419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13810"/>
            <a:ext cx="5915025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905318"/>
            <a:ext cx="2901255" cy="93376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839085"/>
            <a:ext cx="2901255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905318"/>
            <a:ext cx="2915543" cy="93376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839085"/>
            <a:ext cx="2915543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4E6FC-AF88-3E48-B4A8-C752523C2467}" type="datetimeFigureOut">
              <a:rPr lang="en-US" smtClean="0"/>
              <a:t>10/8/22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CB1A-1F52-1641-A3AC-E0BBDE869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62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4E6FC-AF88-3E48-B4A8-C752523C2467}" type="datetimeFigureOut">
              <a:rPr lang="en-US" smtClean="0"/>
              <a:t>10/8/22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CB1A-1F52-1641-A3AC-E0BBDE869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872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4E6FC-AF88-3E48-B4A8-C752523C2467}" type="datetimeFigureOut">
              <a:rPr lang="en-US" smtClean="0"/>
              <a:t>10/8/22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CB1A-1F52-1641-A3AC-E0BBDE869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6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18160"/>
            <a:ext cx="2211884" cy="181356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119083"/>
            <a:ext cx="3471863" cy="552344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331720"/>
            <a:ext cx="2211884" cy="431980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4E6FC-AF88-3E48-B4A8-C752523C2467}" type="datetimeFigureOut">
              <a:rPr lang="en-US" smtClean="0"/>
              <a:t>10/8/22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CB1A-1F52-1641-A3AC-E0BBDE869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329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18160"/>
            <a:ext cx="2211884" cy="181356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119083"/>
            <a:ext cx="3471863" cy="552344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331720"/>
            <a:ext cx="2211884" cy="431980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4E6FC-AF88-3E48-B4A8-C752523C2467}" type="datetimeFigureOut">
              <a:rPr lang="en-US" smtClean="0"/>
              <a:t>10/8/22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CB1A-1F52-1641-A3AC-E0BBDE869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69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4E6FC-AF88-3E48-B4A8-C752523C2467}" type="datetimeFigureOut">
              <a:rPr lang="en-US" smtClean="0"/>
              <a:t>10/8/22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CB1A-1F52-1641-A3AC-E0BBDE869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082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13808"/>
            <a:ext cx="1478756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13808"/>
            <a:ext cx="4350544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4E6FC-AF88-3E48-B4A8-C752523C2467}" type="datetimeFigureOut">
              <a:rPr lang="en-US" smtClean="0"/>
              <a:t>10/8/22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CB1A-1F52-1641-A3AC-E0BBDE869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498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13810"/>
            <a:ext cx="5915025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069042"/>
            <a:ext cx="5915025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7203865"/>
            <a:ext cx="154305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4E6FC-AF88-3E48-B4A8-C752523C2467}" type="datetimeFigureOut">
              <a:rPr lang="en-US" smtClean="0"/>
              <a:t>10/8/22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7203865"/>
            <a:ext cx="2314575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7203865"/>
            <a:ext cx="154305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FFCB1A-1F52-1641-A3AC-E0BBDE869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74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1CC408A-9099-431D-0A27-0DD31987DA1F}"/>
              </a:ext>
            </a:extLst>
          </p:cNvPr>
          <p:cNvGrpSpPr/>
          <p:nvPr/>
        </p:nvGrpSpPr>
        <p:grpSpPr>
          <a:xfrm>
            <a:off x="4318074" y="1342743"/>
            <a:ext cx="2371909" cy="1660446"/>
            <a:chOff x="5708865" y="12119019"/>
            <a:chExt cx="1776306" cy="1693668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C0F7F971-227A-8999-16A4-5A5DD198CEE8}"/>
                </a:ext>
              </a:extLst>
            </p:cNvPr>
            <p:cNvSpPr/>
            <p:nvPr/>
          </p:nvSpPr>
          <p:spPr>
            <a:xfrm>
              <a:off x="5708865" y="12119019"/>
              <a:ext cx="1699325" cy="169366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Connectivity Map: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gene expression profiles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C6A41DF-3BEB-4A59-CB15-DBE74EAAE4A0}"/>
                </a:ext>
              </a:extLst>
            </p:cNvPr>
            <p:cNvGrpSpPr/>
            <p:nvPr/>
          </p:nvGrpSpPr>
          <p:grpSpPr>
            <a:xfrm>
              <a:off x="6087119" y="12642184"/>
              <a:ext cx="1398052" cy="1158562"/>
              <a:chOff x="6264595" y="12630987"/>
              <a:chExt cx="1398052" cy="1158562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7EF292CB-27EF-0C2C-B3C0-381D25C11A65}"/>
                  </a:ext>
                </a:extLst>
              </p:cNvPr>
              <p:cNvGrpSpPr/>
              <p:nvPr/>
            </p:nvGrpSpPr>
            <p:grpSpPr>
              <a:xfrm>
                <a:off x="6494709" y="12630987"/>
                <a:ext cx="329702" cy="725016"/>
                <a:chOff x="6357162" y="12915735"/>
                <a:chExt cx="329702" cy="725016"/>
              </a:xfrm>
            </p:grpSpPr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15755C35-3237-75D3-26CA-EF04063DEC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l="-773" t="26495" r="3845" b="32947"/>
                <a:stretch/>
              </p:blipFill>
              <p:spPr>
                <a:xfrm rot="5400000" flipV="1">
                  <a:off x="6037211" y="13239995"/>
                  <a:ext cx="716400" cy="7649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</p:pic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64682244-D43D-404E-6368-6847A5DB5B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l="8851" t="27765" r="-6361" b="31675"/>
                <a:stretch/>
              </p:blipFill>
              <p:spPr>
                <a:xfrm rot="16200000" flipV="1">
                  <a:off x="6288259" y="13237838"/>
                  <a:ext cx="720708" cy="76502"/>
                </a:xfrm>
                <a:prstGeom prst="rect">
                  <a:avLst/>
                </a:prstGeom>
                <a:ln w="9525">
                  <a:solidFill>
                    <a:schemeClr val="tx1"/>
                  </a:solidFill>
                </a:ln>
              </p:spPr>
            </p:pic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EB867926-7751-3EAE-96B7-826EB2AB4D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l="8851" t="26718" r="3383" b="36775"/>
                <a:stretch/>
              </p:blipFill>
              <p:spPr>
                <a:xfrm rot="16200000" flipV="1">
                  <a:off x="6161871" y="13242146"/>
                  <a:ext cx="720708" cy="76501"/>
                </a:xfrm>
                <a:prstGeom prst="rect">
                  <a:avLst/>
                </a:prstGeom>
                <a:ln w="9525">
                  <a:solidFill>
                    <a:schemeClr val="tx1"/>
                  </a:solidFill>
                </a:ln>
              </p:spPr>
            </p:pic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111E0E-D803-5F84-0DBE-66E11A45064B}"/>
                  </a:ext>
                </a:extLst>
              </p:cNvPr>
              <p:cNvSpPr txBox="1"/>
              <p:nvPr/>
            </p:nvSpPr>
            <p:spPr>
              <a:xfrm>
                <a:off x="6794328" y="12864767"/>
                <a:ext cx="868319" cy="2511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Roboto" panose="02000000000000000000" pitchFamily="2" charset="0"/>
                    <a:ea typeface="Roboto" panose="02000000000000000000" pitchFamily="2" charset="0"/>
                  </a:rPr>
                  <a:t>~22,000 genes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506A14-BF8F-6CD5-666C-416E4513E51F}"/>
                  </a:ext>
                </a:extLst>
              </p:cNvPr>
              <p:cNvSpPr txBox="1"/>
              <p:nvPr/>
            </p:nvSpPr>
            <p:spPr>
              <a:xfrm>
                <a:off x="6264595" y="13381434"/>
                <a:ext cx="789931" cy="408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Roboto" panose="02000000000000000000" pitchFamily="2" charset="0"/>
                    <a:ea typeface="Roboto" panose="02000000000000000000" pitchFamily="2" charset="0"/>
                  </a:rPr>
                  <a:t>1309 compounds</a:t>
                </a:r>
              </a:p>
            </p:txBody>
          </p:sp>
        </p:grpSp>
      </p:grp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3D3440-AE16-05B9-0509-D5D99FB9E4B8}"/>
              </a:ext>
            </a:extLst>
          </p:cNvPr>
          <p:cNvSpPr/>
          <p:nvPr/>
        </p:nvSpPr>
        <p:spPr>
          <a:xfrm>
            <a:off x="872110" y="77876"/>
            <a:ext cx="2737639" cy="99405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Bulk Gene Expression Data: </a:t>
            </a:r>
            <a:r>
              <a:rPr lang="en-US" sz="1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105 microarray samples from GEO normalized and batch corrected using </a:t>
            </a:r>
            <a:r>
              <a:rPr lang="en-US" sz="1000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justRMA</a:t>
            </a:r>
            <a:r>
              <a:rPr lang="en-US" sz="1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and </a:t>
            </a:r>
            <a:r>
              <a:rPr lang="en-US" sz="1000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ComBat</a:t>
            </a:r>
            <a:endParaRPr lang="en-US" sz="10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46B340A-DCDA-6118-925B-C436CF206231}"/>
              </a:ext>
            </a:extLst>
          </p:cNvPr>
          <p:cNvSpPr/>
          <p:nvPr/>
        </p:nvSpPr>
        <p:spPr>
          <a:xfrm>
            <a:off x="441276" y="1342743"/>
            <a:ext cx="3602508" cy="1693668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Differential expression signatures </a:t>
            </a:r>
            <a:r>
              <a:rPr lang="en-US" sz="1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(disease vs. control): </a:t>
            </a:r>
            <a:r>
              <a:rPr lang="en-US" sz="1000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Limma</a:t>
            </a:r>
            <a:r>
              <a:rPr lang="en-US" sz="1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 FDR &lt; 0.05, log2FC &gt; 1.1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81BC95A-672F-D627-1EA3-4DF85CAC4F53}"/>
              </a:ext>
            </a:extLst>
          </p:cNvPr>
          <p:cNvGrpSpPr/>
          <p:nvPr/>
        </p:nvGrpSpPr>
        <p:grpSpPr>
          <a:xfrm>
            <a:off x="153081" y="1789709"/>
            <a:ext cx="1908903" cy="1281661"/>
            <a:chOff x="1405137" y="12664783"/>
            <a:chExt cx="1020254" cy="1281661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75EF3F1-0F15-AA29-94CB-30EBD4DC7C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6292" t="26530" r="3910" b="33338"/>
            <a:stretch/>
          </p:blipFill>
          <p:spPr>
            <a:xfrm rot="16200000" flipV="1">
              <a:off x="1569083" y="13355934"/>
              <a:ext cx="663676" cy="8111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2B2CEB5-5F05-DDFA-0E96-1D78DDB86719}"/>
                </a:ext>
              </a:extLst>
            </p:cNvPr>
            <p:cNvSpPr txBox="1"/>
            <p:nvPr/>
          </p:nvSpPr>
          <p:spPr>
            <a:xfrm>
              <a:off x="1405137" y="12664783"/>
              <a:ext cx="10202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Roboto" panose="02000000000000000000" pitchFamily="2" charset="0"/>
                  <a:ea typeface="Roboto" panose="02000000000000000000" pitchFamily="2" charset="0"/>
                </a:rPr>
                <a:t>Un-</a:t>
              </a:r>
            </a:p>
            <a:p>
              <a:pPr algn="ctr"/>
              <a:r>
                <a:rPr lang="en-US" sz="1000" dirty="0">
                  <a:latin typeface="Roboto" panose="02000000000000000000" pitchFamily="2" charset="0"/>
                  <a:ea typeface="Roboto" panose="02000000000000000000" pitchFamily="2" charset="0"/>
                </a:rPr>
                <a:t>stratified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2CA3FFD-1BD5-7C09-B8F2-4A0B3C5E6A6C}"/>
                </a:ext>
              </a:extLst>
            </p:cNvPr>
            <p:cNvSpPr txBox="1"/>
            <p:nvPr/>
          </p:nvSpPr>
          <p:spPr>
            <a:xfrm>
              <a:off x="1631898" y="13700223"/>
              <a:ext cx="5327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Roboto" panose="02000000000000000000" pitchFamily="2" charset="0"/>
                  <a:ea typeface="Roboto" panose="02000000000000000000" pitchFamily="2" charset="0"/>
                </a:rPr>
                <a:t>All Samples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7951A5A-9C62-DCC2-D2D1-1C32B7488284}"/>
              </a:ext>
            </a:extLst>
          </p:cNvPr>
          <p:cNvGrpSpPr/>
          <p:nvPr/>
        </p:nvGrpSpPr>
        <p:grpSpPr>
          <a:xfrm>
            <a:off x="1482418" y="1895827"/>
            <a:ext cx="1477967" cy="1160553"/>
            <a:chOff x="2115629" y="12770901"/>
            <a:chExt cx="789931" cy="1160553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27E695AD-5D02-1E76-7E62-00B45FDFB186}"/>
                </a:ext>
              </a:extLst>
            </p:cNvPr>
            <p:cNvGrpSpPr/>
            <p:nvPr/>
          </p:nvGrpSpPr>
          <p:grpSpPr>
            <a:xfrm>
              <a:off x="2402402" y="13064654"/>
              <a:ext cx="216385" cy="663676"/>
              <a:chOff x="2323364" y="14568984"/>
              <a:chExt cx="216385" cy="663676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1DFBB460-CA43-33AB-4A5C-CAB28F8156E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6292" t="26530" r="3910" b="33338"/>
              <a:stretch/>
            </p:blipFill>
            <p:spPr>
              <a:xfrm rot="16200000" flipV="1">
                <a:off x="2032084" y="14860264"/>
                <a:ext cx="663676" cy="8111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A24FCB50-BC15-B54C-8AAB-97DD3E01F00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6292" t="26530" r="3910" b="33338"/>
              <a:stretch/>
            </p:blipFill>
            <p:spPr>
              <a:xfrm rot="16200000" flipV="1">
                <a:off x="2167353" y="14860264"/>
                <a:ext cx="663676" cy="8111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456263C-8F80-9904-7B02-479CB26D74BC}"/>
                </a:ext>
              </a:extLst>
            </p:cNvPr>
            <p:cNvSpPr txBox="1"/>
            <p:nvPr/>
          </p:nvSpPr>
          <p:spPr>
            <a:xfrm>
              <a:off x="2115629" y="12770901"/>
              <a:ext cx="78993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Roboto" panose="02000000000000000000" pitchFamily="2" charset="0"/>
                  <a:ea typeface="Roboto" panose="02000000000000000000" pitchFamily="2" charset="0"/>
                </a:rPr>
                <a:t>Stage Stratified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37638BA-44A0-0392-4D2C-3EC2386054A3}"/>
                </a:ext>
              </a:extLst>
            </p:cNvPr>
            <p:cNvSpPr txBox="1"/>
            <p:nvPr/>
          </p:nvSpPr>
          <p:spPr>
            <a:xfrm>
              <a:off x="2292831" y="13685233"/>
              <a:ext cx="4355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Roboto" panose="02000000000000000000" pitchFamily="2" charset="0"/>
                  <a:ea typeface="Roboto" panose="02000000000000000000" pitchFamily="2" charset="0"/>
                </a:rPr>
                <a:t>1/2   3/4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701718B-84D5-9FCB-9603-AEF18003AC47}"/>
              </a:ext>
            </a:extLst>
          </p:cNvPr>
          <p:cNvGrpSpPr/>
          <p:nvPr/>
        </p:nvGrpSpPr>
        <p:grpSpPr>
          <a:xfrm>
            <a:off x="2590894" y="1895827"/>
            <a:ext cx="1477967" cy="1175543"/>
            <a:chOff x="2708077" y="12770901"/>
            <a:chExt cx="789931" cy="117554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04EA44B-EF00-CA50-C81E-467CA551099D}"/>
                </a:ext>
              </a:extLst>
            </p:cNvPr>
            <p:cNvGrpSpPr/>
            <p:nvPr/>
          </p:nvGrpSpPr>
          <p:grpSpPr>
            <a:xfrm>
              <a:off x="2927215" y="13064654"/>
              <a:ext cx="351654" cy="663676"/>
              <a:chOff x="3001058" y="15279663"/>
              <a:chExt cx="351654" cy="663676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4BE77F9F-768A-B379-68D2-09725BF125E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6292" t="26530" r="3910" b="33338"/>
              <a:stretch/>
            </p:blipFill>
            <p:spPr>
              <a:xfrm rot="16200000" flipV="1">
                <a:off x="2709778" y="15570943"/>
                <a:ext cx="663676" cy="8111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D05692F7-D56E-BEC6-6DF2-B5CE372805D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6292" t="26530" r="3910" b="33338"/>
              <a:stretch/>
            </p:blipFill>
            <p:spPr>
              <a:xfrm rot="16200000" flipV="1">
                <a:off x="2845047" y="15570943"/>
                <a:ext cx="663676" cy="8111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5F6C6F6C-5620-6DBC-7F40-6F609E4928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6292" t="26530" r="3910" b="33338"/>
              <a:stretch/>
            </p:blipFill>
            <p:spPr>
              <a:xfrm rot="16200000" flipV="1">
                <a:off x="2980316" y="15570943"/>
                <a:ext cx="663676" cy="8111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A764134-6BF4-BA03-D67A-DAA2F167DD00}"/>
                </a:ext>
              </a:extLst>
            </p:cNvPr>
            <p:cNvSpPr txBox="1"/>
            <p:nvPr/>
          </p:nvSpPr>
          <p:spPr>
            <a:xfrm>
              <a:off x="2708077" y="12770901"/>
              <a:ext cx="78993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Roboto" panose="02000000000000000000" pitchFamily="2" charset="0"/>
                  <a:ea typeface="Roboto" panose="02000000000000000000" pitchFamily="2" charset="0"/>
                </a:rPr>
                <a:t>Phase Stratified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CA65143-FBBE-A997-6287-AE8C7A7685B0}"/>
                </a:ext>
              </a:extLst>
            </p:cNvPr>
            <p:cNvSpPr txBox="1"/>
            <p:nvPr/>
          </p:nvSpPr>
          <p:spPr>
            <a:xfrm>
              <a:off x="2802087" y="13700223"/>
              <a:ext cx="60196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Roboto" panose="02000000000000000000" pitchFamily="2" charset="0"/>
                  <a:ea typeface="Roboto" panose="02000000000000000000" pitchFamily="2" charset="0"/>
                </a:rPr>
                <a:t>PE   ESE  MSE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341E065-3A71-84E7-A284-B6C23EE6E60A}"/>
              </a:ext>
            </a:extLst>
          </p:cNvPr>
          <p:cNvGrpSpPr/>
          <p:nvPr/>
        </p:nvGrpSpPr>
        <p:grpSpPr>
          <a:xfrm>
            <a:off x="1482417" y="3426488"/>
            <a:ext cx="5104771" cy="2119815"/>
            <a:chOff x="2518349" y="14724344"/>
            <a:chExt cx="5104771" cy="2119815"/>
          </a:xfrm>
        </p:grpSpPr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6AA2149D-1616-B785-20FC-5FB6472B9889}"/>
                </a:ext>
              </a:extLst>
            </p:cNvPr>
            <p:cNvSpPr/>
            <p:nvPr/>
          </p:nvSpPr>
          <p:spPr>
            <a:xfrm>
              <a:off x="2518349" y="14724344"/>
              <a:ext cx="5104771" cy="2119815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For all signatures: </a:t>
              </a:r>
              <a:r>
                <a:rPr lang="en-US" sz="1000" b="1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Rank-based, non-parametric search algorithm</a:t>
              </a:r>
              <a:r>
                <a:rPr lang="en-US" sz="10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used to identify disease-drug pairs with opposite transcriptomic effects (q-value &lt; 0.0001)</a:t>
              </a:r>
            </a:p>
          </p:txBody>
        </p:sp>
        <p:pic>
          <p:nvPicPr>
            <p:cNvPr id="35" name="Picture 34" descr="Background pattern&#10;&#10;Description automatically generated">
              <a:extLst>
                <a:ext uri="{FF2B5EF4-FFF2-40B4-BE49-F238E27FC236}">
                  <a16:creationId xmlns:a16="http://schemas.microsoft.com/office/drawing/2014/main" id="{6FD7561D-96B6-7F0E-E9E9-F9C8F37696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r="76063"/>
            <a:stretch/>
          </p:blipFill>
          <p:spPr>
            <a:xfrm>
              <a:off x="5878746" y="15374604"/>
              <a:ext cx="1455735" cy="1153783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51AF9A2-2A32-3F46-4B5B-E2B81412E0B8}"/>
                </a:ext>
              </a:extLst>
            </p:cNvPr>
            <p:cNvSpPr txBox="1"/>
            <p:nvPr/>
          </p:nvSpPr>
          <p:spPr>
            <a:xfrm rot="16200000">
              <a:off x="5263025" y="15793209"/>
              <a:ext cx="9039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Roboto" panose="02000000000000000000" pitchFamily="2" charset="0"/>
                  <a:ea typeface="Roboto" panose="02000000000000000000" pitchFamily="2" charset="0"/>
                </a:rPr>
                <a:t>DISEASE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94681CF-D1F3-9B09-4CC3-493CC0BE359A}"/>
                </a:ext>
              </a:extLst>
            </p:cNvPr>
            <p:cNvSpPr txBox="1"/>
            <p:nvPr/>
          </p:nvSpPr>
          <p:spPr>
            <a:xfrm>
              <a:off x="6310982" y="16564617"/>
              <a:ext cx="7084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Roboto" panose="02000000000000000000" pitchFamily="2" charset="0"/>
                  <a:ea typeface="Roboto" panose="02000000000000000000" pitchFamily="2" charset="0"/>
                </a:rPr>
                <a:t>DRUGS</a:t>
              </a:r>
            </a:p>
          </p:txBody>
        </p:sp>
      </p:grp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0B2C1926-26BB-FB62-26BC-5C2976EFB5A8}"/>
              </a:ext>
            </a:extLst>
          </p:cNvPr>
          <p:cNvSpPr/>
          <p:nvPr/>
        </p:nvSpPr>
        <p:spPr>
          <a:xfrm>
            <a:off x="2907767" y="5923705"/>
            <a:ext cx="2295346" cy="64084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299 unique drug hits identified</a:t>
            </a:r>
            <a:endParaRPr lang="en-US" sz="10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221 common across all six signatures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007959F3-4042-5BEE-8648-67C8830B5D7A}"/>
              </a:ext>
            </a:extLst>
          </p:cNvPr>
          <p:cNvSpPr/>
          <p:nvPr/>
        </p:nvSpPr>
        <p:spPr>
          <a:xfrm>
            <a:off x="2907767" y="6748406"/>
            <a:ext cx="2295346" cy="92341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Validation of </a:t>
            </a:r>
            <a:r>
              <a:rPr lang="en-US" sz="1000" b="1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fenoprofen</a:t>
            </a:r>
            <a:r>
              <a:rPr lang="en-US" sz="10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in animal model</a:t>
            </a:r>
          </a:p>
          <a:p>
            <a:pPr algn="ctr"/>
            <a:endParaRPr lang="en-US" sz="1000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/>
            <a:endParaRPr lang="en-US" sz="1000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/>
            <a:endParaRPr lang="en-US" sz="10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F1561F5-41F7-615A-AB2D-A3634B24321D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 bwMode="auto">
          <a:xfrm>
            <a:off x="2240928" y="1071931"/>
            <a:ext cx="1602" cy="270815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93DE388-C976-4A1E-AB41-0A9A4C203E21}"/>
              </a:ext>
            </a:extLst>
          </p:cNvPr>
          <p:cNvCxnSpPr>
            <a:cxnSpLocks/>
          </p:cNvCxnSpPr>
          <p:nvPr/>
        </p:nvCxnSpPr>
        <p:spPr bwMode="auto">
          <a:xfrm>
            <a:off x="4055440" y="5546301"/>
            <a:ext cx="0" cy="37740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9F83B4C-C1F1-AB20-8F28-93A5B7B74187}"/>
              </a:ext>
            </a:extLst>
          </p:cNvPr>
          <p:cNvCxnSpPr>
            <a:cxnSpLocks/>
            <a:stCxn id="38" idx="2"/>
            <a:endCxn id="39" idx="0"/>
          </p:cNvCxnSpPr>
          <p:nvPr/>
        </p:nvCxnSpPr>
        <p:spPr bwMode="auto">
          <a:xfrm>
            <a:off x="4055440" y="6564550"/>
            <a:ext cx="0" cy="18385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A954FDE-5D11-227B-21E5-AD6A4D68C9C1}"/>
              </a:ext>
            </a:extLst>
          </p:cNvPr>
          <p:cNvCxnSpPr>
            <a:cxnSpLocks/>
          </p:cNvCxnSpPr>
          <p:nvPr/>
        </p:nvCxnSpPr>
        <p:spPr bwMode="auto">
          <a:xfrm>
            <a:off x="2272062" y="3049082"/>
            <a:ext cx="608715" cy="37740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5AE8158-041D-BCE5-CE14-81DA4DF13F46}"/>
              </a:ext>
            </a:extLst>
          </p:cNvPr>
          <p:cNvCxnSpPr>
            <a:cxnSpLocks/>
            <a:stCxn id="9" idx="2"/>
          </p:cNvCxnSpPr>
          <p:nvPr/>
        </p:nvCxnSpPr>
        <p:spPr bwMode="auto">
          <a:xfrm flipH="1">
            <a:off x="4741754" y="2991482"/>
            <a:ext cx="608803" cy="43246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C80D9CD-06D4-CDED-749E-FC86FEF0617A}"/>
              </a:ext>
            </a:extLst>
          </p:cNvPr>
          <p:cNvCxnSpPr>
            <a:cxnSpLocks/>
          </p:cNvCxnSpPr>
          <p:nvPr/>
        </p:nvCxnSpPr>
        <p:spPr>
          <a:xfrm flipV="1">
            <a:off x="2189726" y="4761053"/>
            <a:ext cx="0" cy="687705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431B3CF-32AA-D0DF-49F0-60CAAF739FB0}"/>
              </a:ext>
            </a:extLst>
          </p:cNvPr>
          <p:cNvCxnSpPr>
            <a:cxnSpLocks/>
          </p:cNvCxnSpPr>
          <p:nvPr/>
        </p:nvCxnSpPr>
        <p:spPr>
          <a:xfrm flipV="1">
            <a:off x="2318314" y="4761053"/>
            <a:ext cx="0" cy="619125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330B866-017F-9E3C-9839-4E85A7F570B2}"/>
              </a:ext>
            </a:extLst>
          </p:cNvPr>
          <p:cNvCxnSpPr>
            <a:cxnSpLocks/>
          </p:cNvCxnSpPr>
          <p:nvPr/>
        </p:nvCxnSpPr>
        <p:spPr>
          <a:xfrm flipV="1">
            <a:off x="2446901" y="4761053"/>
            <a:ext cx="0" cy="489585"/>
          </a:xfrm>
          <a:prstGeom prst="line">
            <a:avLst/>
          </a:prstGeom>
          <a:ln w="38100">
            <a:solidFill>
              <a:srgbClr val="317C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1E3E9EC4-CE41-F343-F76A-7E05ACF37BB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404039" y="4932500"/>
            <a:ext cx="342900" cy="0"/>
          </a:xfrm>
          <a:prstGeom prst="line">
            <a:avLst/>
          </a:prstGeom>
          <a:ln w="38100">
            <a:solidFill>
              <a:srgbClr val="3958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613D1B6-C9CE-ED6A-F7DC-3259ADE3C9EB}"/>
              </a:ext>
            </a:extLst>
          </p:cNvPr>
          <p:cNvCxnSpPr>
            <a:cxnSpLocks/>
          </p:cNvCxnSpPr>
          <p:nvPr/>
        </p:nvCxnSpPr>
        <p:spPr>
          <a:xfrm flipV="1">
            <a:off x="2704076" y="4761053"/>
            <a:ext cx="0" cy="245745"/>
          </a:xfrm>
          <a:prstGeom prst="line">
            <a:avLst/>
          </a:prstGeom>
          <a:ln w="38100">
            <a:solidFill>
              <a:srgbClr val="3958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4A8CCA1-0ADF-FEBC-C881-3ECFB96790E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918389" y="4589600"/>
            <a:ext cx="3429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7C8A120-F277-F2C4-FAD3-0270BF3A646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961251" y="4503875"/>
            <a:ext cx="51435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9BAE378-0BB9-45B2-2DD4-BF1A4725C4A9}"/>
              </a:ext>
            </a:extLst>
          </p:cNvPr>
          <p:cNvCxnSpPr>
            <a:cxnSpLocks/>
          </p:cNvCxnSpPr>
          <p:nvPr/>
        </p:nvCxnSpPr>
        <p:spPr>
          <a:xfrm flipV="1">
            <a:off x="3347014" y="4092398"/>
            <a:ext cx="0" cy="66865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F8EDA12-0B82-65DB-6367-5294FF46303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111273" y="4396718"/>
            <a:ext cx="7286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9F574DA6-303F-E605-8730-EE7C9FC9518D}"/>
              </a:ext>
            </a:extLst>
          </p:cNvPr>
          <p:cNvCxnSpPr>
            <a:cxnSpLocks/>
          </p:cNvCxnSpPr>
          <p:nvPr/>
        </p:nvCxnSpPr>
        <p:spPr>
          <a:xfrm flipV="1">
            <a:off x="3604189" y="3932378"/>
            <a:ext cx="0" cy="828675"/>
          </a:xfrm>
          <a:prstGeom prst="line">
            <a:avLst/>
          </a:prstGeom>
          <a:ln w="38100">
            <a:solidFill>
              <a:srgbClr val="F36E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846EB48-0DA3-8318-F4F7-9D8005155669}"/>
              </a:ext>
            </a:extLst>
          </p:cNvPr>
          <p:cNvCxnSpPr>
            <a:cxnSpLocks/>
          </p:cNvCxnSpPr>
          <p:nvPr/>
        </p:nvCxnSpPr>
        <p:spPr>
          <a:xfrm>
            <a:off x="2104004" y="4761050"/>
            <a:ext cx="16287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429C093-4758-E50F-9450-B87A9E6D33ED}"/>
              </a:ext>
            </a:extLst>
          </p:cNvPr>
          <p:cNvGrpSpPr/>
          <p:nvPr/>
        </p:nvGrpSpPr>
        <p:grpSpPr>
          <a:xfrm>
            <a:off x="1431895" y="4066271"/>
            <a:ext cx="2959970" cy="1419653"/>
            <a:chOff x="4961099" y="788125"/>
            <a:chExt cx="3946626" cy="1892871"/>
          </a:xfrm>
        </p:grpSpPr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C4D65E88-F3E0-C0BA-E46F-6281648B8F3B}"/>
                </a:ext>
              </a:extLst>
            </p:cNvPr>
            <p:cNvCxnSpPr/>
            <p:nvPr/>
          </p:nvCxnSpPr>
          <p:spPr>
            <a:xfrm rot="10800000">
              <a:off x="6529070" y="2413543"/>
              <a:ext cx="514350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43363D52-D87E-5D81-4F4F-416822A6F8CD}"/>
                </a:ext>
              </a:extLst>
            </p:cNvPr>
            <p:cNvCxnSpPr/>
            <p:nvPr/>
          </p:nvCxnSpPr>
          <p:spPr>
            <a:xfrm>
              <a:off x="6680200" y="1096089"/>
              <a:ext cx="457200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759E2E7-8D23-4435-2EBD-0B2AAD911617}"/>
                </a:ext>
              </a:extLst>
            </p:cNvPr>
            <p:cNvSpPr txBox="1"/>
            <p:nvPr/>
          </p:nvSpPr>
          <p:spPr>
            <a:xfrm>
              <a:off x="4961099" y="788125"/>
              <a:ext cx="1813136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Drug Expression Similar to Disease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850955F-D286-D6BB-7047-93F562F9184B}"/>
                </a:ext>
              </a:extLst>
            </p:cNvPr>
            <p:cNvSpPr txBox="1"/>
            <p:nvPr/>
          </p:nvSpPr>
          <p:spPr>
            <a:xfrm>
              <a:off x="6953249" y="2147516"/>
              <a:ext cx="1954476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Drug Expression Opposite to Disease</a:t>
              </a:r>
            </a:p>
          </p:txBody>
        </p:sp>
      </p:grpSp>
      <p:pic>
        <p:nvPicPr>
          <p:cNvPr id="1026" name="Picture 2" descr="Mouse Silhouette Vector Art, Icons, and Graphics for Free Download">
            <a:extLst>
              <a:ext uri="{FF2B5EF4-FFF2-40B4-BE49-F238E27FC236}">
                <a16:creationId xmlns:a16="http://schemas.microsoft.com/office/drawing/2014/main" id="{CB8F901F-A99C-0657-DF5D-2406CFA497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14" b="20713"/>
          <a:stretch/>
        </p:blipFill>
        <p:spPr bwMode="auto">
          <a:xfrm>
            <a:off x="3615583" y="7145247"/>
            <a:ext cx="838439" cy="48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6997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</TotalTime>
  <Words>111</Words>
  <Application>Microsoft Macintosh PowerPoint</Application>
  <PresentationFormat>Custom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Roboto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21AroheeBhoja</dc:creator>
  <cp:lastModifiedBy>Oskotsky, Tomiko</cp:lastModifiedBy>
  <cp:revision>7</cp:revision>
  <cp:lastPrinted>2022-10-09T06:14:44Z</cp:lastPrinted>
  <dcterms:created xsi:type="dcterms:W3CDTF">2022-06-13T22:14:00Z</dcterms:created>
  <dcterms:modified xsi:type="dcterms:W3CDTF">2022-10-09T06:17:36Z</dcterms:modified>
</cp:coreProperties>
</file>